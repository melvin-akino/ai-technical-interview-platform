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4114800" y="0"/>
            <a:ext cx="5029200" cy="5143500"/>
          </a:xfrm>
          <a:prstGeom prst="rtTriangle">
            <a:avLst/>
          </a:prstGeom>
          <a:solidFill>
            <a:srgbClr val="2B1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5000" b="1">
                <a:solidFill>
                  <a:srgbClr val="FFC107"/>
                </a:solidFill>
                <a:latin typeface="Georgia"/>
              </a:defRPr>
            </a:pPr>
            <a:r>
              <a:t>AuraInterview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AI-Driven Technical Recruitment</a:t>
            </a:r>
          </a:p>
          <a:p>
            <a:pPr>
              <a:defRPr sz="1300" i="1">
                <a:solidFill>
                  <a:srgbClr val="D2C8F0"/>
                </a:solidFill>
                <a:latin typeface="Calibri"/>
              </a:defRPr>
            </a:pPr>
            <a:r>
              <a:t>Reclaim 80%+ of Engineering Hours. Screen with Integrity. Hire Top Talent Faster.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1B55"/>
                </a:solidFill>
                <a:latin typeface="Georgia"/>
              </a:defRPr>
            </a:pPr>
            <a:r>
              <a:t>The Technical Hiring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800" b="1">
                <a:solidFill>
                  <a:srgbClr val="2B1B55"/>
                </a:solidFill>
                <a:latin typeface="Georgia"/>
              </a:defRPr>
            </a:pPr>
            <a:r>
              <a:t>01</a:t>
            </a:r>
            <a:br/>
            <a:r>
              <a:t>Developer Fatigue</a:t>
            </a:r>
          </a:p>
          <a:p>
            <a:pPr>
              <a:defRPr sz="1300">
                <a:solidFill>
                  <a:srgbClr val="646464"/>
                </a:solidFill>
                <a:latin typeface="Calibri"/>
              </a:defRPr>
            </a:pPr>
            <a:r>
              <a:t>Senior developers waste 15+ hours per week grading take-homes and doing initial interviews instead of building product.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1887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800" b="1">
                <a:solidFill>
                  <a:srgbClr val="2B1B55"/>
                </a:solidFill>
                <a:latin typeface="Georgia"/>
              </a:defRPr>
            </a:pPr>
            <a:r>
              <a:t>02</a:t>
            </a:r>
            <a:br/>
            <a:r>
              <a:t>Slow Sourcing Lag</a:t>
            </a:r>
          </a:p>
          <a:p>
            <a:pPr>
              <a:defRPr sz="1300">
                <a:solidFill>
                  <a:srgbClr val="646464"/>
                </a:solidFill>
                <a:latin typeface="Calibri"/>
              </a:defRPr>
            </a:pPr>
            <a:r>
              <a:t>Scheduling delays and manually grading submissions stall the hiring funnel, losing top candidates to competitors.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188720"/>
            <a:ext cx="256032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1400"/>
              </a:spcAft>
              <a:defRPr sz="1800" b="1">
                <a:solidFill>
                  <a:srgbClr val="2B1B55"/>
                </a:solidFill>
                <a:latin typeface="Georgia"/>
              </a:defRPr>
            </a:pPr>
            <a:r>
              <a:t>03</a:t>
            </a:r>
            <a:br/>
            <a:r>
              <a:t>Integrity Risks</a:t>
            </a:r>
          </a:p>
          <a:p>
            <a:pPr>
              <a:defRPr sz="1300">
                <a:solidFill>
                  <a:srgbClr val="646464"/>
                </a:solidFill>
                <a:latin typeface="Calibri"/>
              </a:defRPr>
            </a:pPr>
            <a:r>
              <a:t>Plagiarism and copy-pasting code is rampant in remote screenings, while invasive plugins hurt candidate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1B55"/>
                </a:solidFill>
                <a:latin typeface="Georgia"/>
              </a:defRPr>
            </a:pPr>
            <a:r>
              <a:t>Core Solution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B1B55"/>
                </a:solidFill>
                <a:latin typeface="Georgia"/>
              </a:defRPr>
            </a:pPr>
            <a:r>
              <a:t>Conversational AI Recruiter</a:t>
            </a:r>
          </a:p>
          <a:p>
            <a:pPr>
              <a:defRPr sz="1250">
                <a:solidFill>
                  <a:srgbClr val="646464"/>
                </a:solidFill>
                <a:latin typeface="Calibri"/>
              </a:defRPr>
            </a:pPr>
            <a:r>
              <a:t>Adaptive prompting, hints, and Big-O verification (Gemini 3.5).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B1B55"/>
                </a:solidFill>
                <a:latin typeface="Georgia"/>
              </a:defRPr>
            </a:pPr>
            <a:r>
              <a:t>Anti-Cheat Proctoring</a:t>
            </a:r>
          </a:p>
          <a:p>
            <a:pPr>
              <a:defRPr sz="1250">
                <a:solidFill>
                  <a:srgbClr val="646464"/>
                </a:solidFill>
                <a:latin typeface="Calibri"/>
              </a:defRPr>
            </a:pPr>
            <a:r>
              <a:t>Tracks tab focus loss, idle duration, and copy-paste count.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39319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B1B55"/>
                </a:solidFill>
                <a:latin typeface="Georgia"/>
              </a:defRPr>
            </a:pPr>
            <a:r>
              <a:t>Multi-Language Code Sandbox</a:t>
            </a:r>
          </a:p>
          <a:p>
            <a:pPr>
              <a:defRPr sz="1250">
                <a:solidFill>
                  <a:srgbClr val="646464"/>
                </a:solidFill>
                <a:latin typeface="Calibri"/>
              </a:defRPr>
            </a:pPr>
            <a:r>
              <a:t>Live compiling subprocess for Python, JS, Go, PHP, C, C++.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6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spcAft>
                <a:spcPts val="600"/>
              </a:spcAft>
              <a:defRPr sz="1600" b="1">
                <a:solidFill>
                  <a:srgbClr val="2B1B55"/>
                </a:solidFill>
                <a:latin typeface="Georgia"/>
              </a:defRPr>
            </a:pPr>
            <a:r>
              <a:t>One-Click Talent Pool Matcher</a:t>
            </a:r>
          </a:p>
          <a:p>
            <a:pPr>
              <a:defRPr sz="1250">
                <a:solidFill>
                  <a:srgbClr val="646464"/>
                </a:solidFill>
                <a:latin typeface="Calibri"/>
              </a:defRPr>
            </a:pPr>
            <a:r>
              <a:t>PDF resume parser matches saved candidates instantly to new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B1B55"/>
                </a:solidFill>
                <a:latin typeface="Georgia"/>
              </a:defRPr>
            </a:pPr>
            <a:r>
              <a:t>Integrity &amp; Proctoring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B1B55"/>
                </a:solidFill>
              </a:defRPr>
            </a:pPr>
            <a:r>
              <a:t>Safeguard Exam Integrity Passive &amp; Seamlessly</a:t>
            </a:r>
          </a:p>
          <a:p>
            <a:pPr>
              <a:spcAft>
                <a:spcPts val="1200"/>
              </a:spcAft>
              <a:defRPr sz="1400">
                <a:solidFill>
                  <a:srgbClr val="646464"/>
                </a:solidFill>
              </a:defRPr>
            </a:pPr>
            <a:r>
              <a:t>Instead of forcing invasive webcam extensions, AuraInterview monitors candidates' browser interactions passively. Recruiter dashboards show instant flag warnings if thresholds are crossed.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3200400"/>
          </a:xfrm>
          <a:prstGeom prst="roundRect">
            <a:avLst/>
          </a:prstGeom>
          <a:solidFill>
            <a:srgbClr val="FDF4F4"/>
          </a:solidFill>
          <a:ln w="25400"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/>
          <a:lstStyle/>
          <a:p>
            <a:pPr algn="ctr">
              <a:spcAft>
                <a:spcPts val="1600"/>
              </a:spcAft>
              <a:defRPr sz="1600" b="1">
                <a:solidFill>
                  <a:srgbClr val="B42828"/>
                </a:solidFill>
              </a:defRPr>
            </a:pPr>
            <a:r>
              <a:t>🚨 LIVE PROCTORING METRICS</a:t>
            </a:r>
          </a:p>
          <a:p>
            <a:pPr>
              <a:spcAft>
                <a:spcPts val="800"/>
              </a:spcAft>
              <a:defRPr sz="1300">
                <a:solidFill>
                  <a:srgbClr val="321414"/>
                </a:solidFill>
              </a:defRPr>
            </a:pPr>
            <a:r>
              <a:t>•  Tab Focus Loss Count: Logs every time they leave the exam page.</a:t>
            </a:r>
          </a:p>
          <a:p>
            <a:pPr>
              <a:spcAft>
                <a:spcPts val="800"/>
              </a:spcAft>
              <a:defRPr sz="1300">
                <a:solidFill>
                  <a:srgbClr val="321414"/>
                </a:solidFill>
              </a:defRPr>
            </a:pPr>
            <a:r>
              <a:t>•  Total Idle Away Time: Calculates cumulative seconds spent off-tab.</a:t>
            </a:r>
          </a:p>
          <a:p>
            <a:pPr>
              <a:spcAft>
                <a:spcPts val="800"/>
              </a:spcAft>
              <a:defRPr sz="1300">
                <a:solidFill>
                  <a:srgbClr val="321414"/>
                </a:solidFill>
              </a:defRPr>
            </a:pPr>
            <a:r>
              <a:t>•  Clipboard Paste Counts: Monitors code pastes directly inside Monaco.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914400"/>
            <a:ext cx="3657600" cy="3474720"/>
          </a:xfrm>
          <a:prstGeom prst="roundRect">
            <a:avLst/>
          </a:prstGeom>
          <a:solidFill>
            <a:srgbClr val="2B1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/>
          <a:lstStyle/>
          <a:p>
            <a:pPr algn="ctr">
              <a:defRPr sz="6400" b="1">
                <a:solidFill>
                  <a:srgbClr val="FFC107"/>
                </a:solidFill>
                <a:latin typeface="Georgia"/>
              </a:defRPr>
            </a:pPr>
            <a:r>
              <a:t>80%+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FFFFF"/>
                </a:solidFill>
              </a:defRPr>
            </a:pPr>
            <a:r>
              <a:t>RECLAIMED ENGINEERING TIME</a:t>
            </a:r>
          </a:p>
          <a:p>
            <a:pPr algn="ctr">
              <a:defRPr sz="1200" i="1">
                <a:solidFill>
                  <a:srgbClr val="D2C8F0"/>
                </a:solidFill>
              </a:defRPr>
            </a:pPr>
            <a:r>
              <a:t>No more screening coding files manually.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9144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C107"/>
                </a:solidFill>
                <a:latin typeface="Georgia"/>
              </a:defRPr>
            </a:pPr>
            <a:r>
              <a:t>Recruitment Business Value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✔  Screen Soft Skills First</a:t>
            </a:r>
          </a:p>
          <a:p>
            <a:pPr>
              <a:spcAft>
                <a:spcPts val="1000"/>
              </a:spcAft>
              <a:defRPr sz="1300">
                <a:solidFill>
                  <a:srgbClr val="D2C8F0"/>
                </a:solidFill>
              </a:defRPr>
            </a:pPr>
            <a:r>
              <a:t>    Grading candidates' communication, feedback-seeking behavior, and coachability in real-time dialogs.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✔  Instant ATS Invites</a:t>
            </a:r>
          </a:p>
          <a:p>
            <a:pPr>
              <a:spcAft>
                <a:spcPts val="1000"/>
              </a:spcAft>
              <a:defRPr sz="1300">
                <a:solidFill>
                  <a:srgbClr val="D2C8F0"/>
                </a:solidFill>
              </a:defRPr>
            </a:pPr>
            <a:r>
              <a:t>    Copy invitation links with one click to send directly to candidates, speeding up sourcing setup.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✔  Unbiased Scorecard Grading</a:t>
            </a:r>
          </a:p>
          <a:p>
            <a:pPr>
              <a:spcAft>
                <a:spcPts val="1000"/>
              </a:spcAft>
              <a:defRPr sz="1300">
                <a:solidFill>
                  <a:srgbClr val="D2C8F0"/>
                </a:solidFill>
              </a:defRPr>
            </a:pPr>
            <a:r>
              <a:t>    Standardized, neutral AI scores across Code Quality, Accuracy, and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F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FFC107"/>
                </a:solidFill>
                <a:latin typeface="Georgia"/>
              </a:defRPr>
            </a:pPr>
            <a:r>
              <a:t>Transform Your Engineering Pipeline</a:t>
            </a:r>
          </a:p>
          <a:p>
            <a:pPr algn="ctr">
              <a:spcAft>
                <a:spcPts val="2000"/>
              </a:spcAft>
              <a:defRPr sz="1800">
                <a:solidFill>
                  <a:srgbClr val="FFFFFF"/>
                </a:solidFill>
              </a:defRPr>
            </a:pPr>
            <a:r>
              <a:t>Start screening candidates autonomously with AuraInterview.</a:t>
            </a:r>
          </a:p>
          <a:p>
            <a:pPr algn="ctr">
              <a:defRPr sz="1600" b="1">
                <a:solidFill>
                  <a:srgbClr val="FFC107"/>
                </a:solidFill>
              </a:defRPr>
            </a:pPr>
            <a:r>
              <a:t>Get started: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